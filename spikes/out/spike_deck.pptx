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B2B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Sheet1!$A$2:$A$5</c:f>
              <c:strCache>
                <c:ptCount val="4"/>
                <c:pt idx="0">
                  <c:v>I кв. 2025</c:v>
                </c:pt>
                <c:pt idx="1">
                  <c:v>II кв. 2025</c:v>
                </c:pt>
                <c:pt idx="2">
                  <c:v>III кв. 2025</c:v>
                </c:pt>
                <c:pt idx="3">
                  <c:v>IV кв. 2025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42</c:v>
                </c:pt>
                <c:pt idx="1">
                  <c:v>51</c:v>
                </c:pt>
                <c:pt idx="2">
                  <c:v>63</c:v>
                </c:pt>
                <c:pt idx="3">
                  <c:v>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B2C</c:v>
                </c:pt>
              </c:strCache>
            </c:strRef>
          </c:tx>
          <c:spPr>
            <a:solidFill>
              <a:srgbClr val="E07A1F"/>
            </a:solidFill>
          </c:spPr>
          <c:cat>
            <c:strRef>
              <c:f>Sheet1!$A$2:$A$5</c:f>
              <c:strCache>
                <c:ptCount val="4"/>
                <c:pt idx="0">
                  <c:v>I кв. 2025</c:v>
                </c:pt>
                <c:pt idx="1">
                  <c:v>II кв. 2025</c:v>
                </c:pt>
                <c:pt idx="2">
                  <c:v>III кв. 2025</c:v>
                </c:pt>
                <c:pt idx="3">
                  <c:v>IV кв. 2025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38</c:v>
                </c:pt>
                <c:pt idx="1">
                  <c:v>40</c:v>
                </c:pt>
                <c:pt idx="2">
                  <c:v>41</c:v>
                </c:pt>
                <c:pt idx="3">
                  <c:v>43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BE3"/>
            </a:solidFill>
          </a:ln>
        </c:spPr>
        <c:txPr>
          <a:bodyPr/>
          <a:lstStyle/>
          <a:p>
            <a:pPr>
              <a:defRPr sz="14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5DB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00"/>
                  <a:t>млн 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400">
          <a:solidFill>
            <a:srgbClr val="5B657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бюджета</c:v>
                </c:pt>
              </c:strCache>
            </c:strRef>
          </c:tx>
          <c:dPt>
            <c:idx val="0"/>
            <c:spPr>
              <a:solidFill>
                <a:srgbClr val="1F4E79"/>
              </a:solidFill>
            </c:spPr>
          </c:dPt>
          <c:dPt>
            <c:idx val="1"/>
            <c:spPr>
              <a:solidFill>
                <a:srgbClr val="E07A1F"/>
              </a:solidFill>
            </c:spPr>
          </c:dPt>
          <c:dPt>
            <c:idx val="2"/>
            <c:spPr>
              <a:solidFill>
                <a:srgbClr val="3C9D9B"/>
              </a:solidFill>
            </c:spPr>
          </c:dPt>
          <c:dPt>
            <c:idx val="3"/>
            <c:spPr>
              <a:solidFill>
                <a:srgbClr val="8E6BBF"/>
              </a:solidFill>
            </c:spPr>
          </c:dPt>
          <c:cat>
            <c:strRef>
              <c:f>Sheet1!$A$2:$A$5</c:f>
              <c:strCache>
                <c:ptCount val="4"/>
                <c:pt idx="0">
                  <c:v>Команда</c:v>
                </c:pt>
                <c:pt idx="1">
                  <c:v>Инфраструктура</c:v>
                </c:pt>
                <c:pt idx="2">
                  <c:v>Маркетинг</c:v>
                </c:pt>
                <c:pt idx="3">
                  <c:v>Прочее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0.66</c:v>
                </c:pt>
                <c:pt idx="1">
                  <c:v>0.16</c:v>
                </c:pt>
                <c:pt idx="2">
                  <c:v>0.12</c:v>
                </c:pt>
                <c:pt idx="3">
                  <c:v>0.06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8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</c:plotArea>
    <c:legend>
      <c:legendPos/>
      <c:layout/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rgbClr val="5B6570"/>
          </a:solidFill>
          <a:latin typeface="Arial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Источники изображений: в спайке фотографий нет. В проде здесь будет список «Фото: Имя / Pexels» (ТЗ 3.6).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 lang="ru-RU">
                <a:solidFill>
                  <a:srgbClr val="1B1F24"/>
                </a:solidFill>
                <a:latin typeface="Arial"/>
              </a:rPr>
              <a:t>Выручка выросла на 40% за год за счёт B2B-сегмента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35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ru-RU">
                <a:solidFill>
                  <a:srgbClr val="5B6570"/>
                </a:solidFill>
                <a:latin typeface="Arial"/>
              </a:rPr>
              <a:t>Fibonacci.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350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0" lang="ru-RU">
                <a:solidFill>
                  <a:srgbClr val="5B6570"/>
                </a:solidFill>
                <a:latin typeface="Arial"/>
              </a:rPr>
              <a:t>1 / 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8000" y="1778000"/>
          <a:ext cx="7493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382000" y="1778000"/>
            <a:ext cx="3302000" cy="419100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99500" y="2032000"/>
            <a:ext cx="2667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lang="ru-RU">
                <a:solidFill>
                  <a:srgbClr val="1F4E79"/>
                </a:solidFill>
                <a:latin typeface="Arial"/>
              </a:rPr>
              <a:t>+40%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99500" y="3048000"/>
            <a:ext cx="2667000" cy="381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рост выручки год к году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9500" y="3683000"/>
            <a:ext cx="2667000" cy="203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1B1F24"/>
                </a:solidFill>
                <a:latin typeface="Arial"/>
              </a:rPr>
              <a:t>B2B вырос почти вдвое: с 42 до 78 млн ₽ за квартал. B2C почти не изменился.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6032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ru-RU">
                <a:solidFill>
                  <a:srgbClr val="5B6570"/>
                </a:solidFill>
                <a:latin typeface="Arial"/>
              </a:rPr>
              <a:t>Источник: управленческая отчётность, 2025 (данные условные, для спайка)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 lang="ru-RU">
                <a:solidFill>
                  <a:srgbClr val="1B1F24"/>
                </a:solidFill>
                <a:latin typeface="Arial"/>
              </a:rPr>
              <a:t>B2B-клиенты приносят 64% выручки при 18% клиентской базы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35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ru-RU">
                <a:solidFill>
                  <a:srgbClr val="5B6570"/>
                </a:solidFill>
                <a:latin typeface="Arial"/>
              </a:rPr>
              <a:t>Fibonacci.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350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0" lang="ru-RU">
                <a:solidFill>
                  <a:srgbClr val="5B6570"/>
                </a:solidFill>
                <a:latin typeface="Arial"/>
              </a:rPr>
              <a:t>2 /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8000" y="1841500"/>
          <a:ext cx="11176000" cy="2540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826000"/>
                <a:gridCol w="1905000"/>
                <a:gridCol w="2222500"/>
                <a:gridCol w="22225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800" b="1" lang="ru-RU">
                          <a:solidFill>
                            <a:srgbClr val="FFFFFF"/>
                          </a:solidFill>
                          <a:latin typeface="Arial"/>
                        </a:rPr>
                        <a:t>Сегмент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FFFFFF"/>
                          </a:solidFill>
                          <a:latin typeface="Arial"/>
                        </a:rPr>
                        <a:t>Клиенты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FFFFFF"/>
                          </a:solidFill>
                          <a:latin typeface="Arial"/>
                        </a:rPr>
                        <a:t>Выручка, млн ₽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FFFFFF"/>
                          </a:solidFill>
                          <a:latin typeface="Arial"/>
                        </a:rPr>
                        <a:t>Доля выручки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800" b="1" lang="ru-RU">
                          <a:solidFill>
                            <a:srgbClr val="1B1F24"/>
                          </a:solidFill>
                          <a:latin typeface="Arial"/>
                        </a:rPr>
                        <a:t>B2B — крупный бизнес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E6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1B1F24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E6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1B1F24"/>
                          </a:solidFill>
                          <a:latin typeface="Arial"/>
                        </a:rPr>
                        <a:t>154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E6EA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1" lang="ru-RU">
                          <a:solidFill>
                            <a:srgbClr val="1B1F24"/>
                          </a:solidFill>
                          <a:latin typeface="Arial"/>
                        </a:rPr>
                        <a:t>44%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E6EAF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B2B — малый бизнес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20%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B2C — подписка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2 100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19%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B2C — разовые покупки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3 300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800" b="0" lang="ru-RU">
                          <a:solidFill>
                            <a:srgbClr val="1B1F24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anchor="ctr" marL="152400" marR="152400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D5DB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8000" y="603250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0" lang="ru-RU">
                <a:solidFill>
                  <a:srgbClr val="5B6570"/>
                </a:solidFill>
                <a:latin typeface="Arial"/>
              </a:rPr>
              <a:t>Таблица нативная: её можно редактировать в PowerPoint, Keynote и Google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 lang="ru-RU">
                <a:solidFill>
                  <a:srgbClr val="1B1F24"/>
                </a:solidFill>
                <a:latin typeface="Arial"/>
              </a:rPr>
              <a:t>Три фактора роста: продукт, продажи и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35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ru-RU">
                <a:solidFill>
                  <a:srgbClr val="5B6570"/>
                </a:solidFill>
                <a:latin typeface="Arial"/>
              </a:rPr>
              <a:t>Fibonacci.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350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0" lang="ru-RU">
                <a:solidFill>
                  <a:srgbClr val="5B6570"/>
                </a:solidFill>
                <a:latin typeface="Arial"/>
              </a:rPr>
              <a:t>3 /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1841500"/>
            <a:ext cx="3556000" cy="40005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12800" y="2146300"/>
            <a:ext cx="762000" cy="762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200" y="2298700"/>
            <a:ext cx="45720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3175000"/>
            <a:ext cx="29464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1B1F24"/>
                </a:solidFill>
                <a:latin typeface="Arial"/>
              </a:rPr>
              <a:t>Продукт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746500"/>
            <a:ext cx="29464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Запустили тариф для команд — средний чек вырос на 22%.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8000" y="1841500"/>
            <a:ext cx="3556000" cy="40005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22800" y="2146300"/>
            <a:ext cx="762000" cy="762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5200" y="2298700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22800" y="3175000"/>
            <a:ext cx="29464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1B1F24"/>
                </a:solidFill>
                <a:latin typeface="Arial"/>
              </a:rPr>
              <a:t>Продажи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2800" y="3746500"/>
            <a:ext cx="29464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Отдел B2B вырос с 3 до 8 человек, цикл сделки сократился до 21 дня.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0" y="1841500"/>
            <a:ext cx="3556000" cy="4000500"/>
          </a:xfrm>
          <a:prstGeom prst="roundRect">
            <a:avLst>
              <a:gd name="adj" fmla="val 5000"/>
            </a:avLst>
          </a:prstGeom>
          <a:solidFill>
            <a:srgbClr val="F3F5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32800" y="2146300"/>
            <a:ext cx="762000" cy="76200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5200" y="2298700"/>
            <a:ext cx="45720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432800" y="3175000"/>
            <a:ext cx="2946400" cy="444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600" b="1" lang="ru-RU">
                <a:solidFill>
                  <a:srgbClr val="1B1F24"/>
                </a:solidFill>
                <a:latin typeface="Arial"/>
              </a:rPr>
              <a:t>Сервис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2800" y="3746500"/>
            <a:ext cx="29464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Поддержка 24/7 снизила отток B2B-клиентов с 9% до 4% в год.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 lang="ru-RU">
                <a:solidFill>
                  <a:srgbClr val="1B1F24"/>
                </a:solidFill>
                <a:latin typeface="Arial"/>
              </a:rPr>
              <a:t>Две трети бюджета проекта уходит на команду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35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ru-RU">
                <a:solidFill>
                  <a:srgbClr val="5B6570"/>
                </a:solidFill>
                <a:latin typeface="Arial"/>
              </a:rPr>
              <a:t>Fibonacci.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350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0" lang="ru-RU">
                <a:solidFill>
                  <a:srgbClr val="5B6570"/>
                </a:solidFill>
                <a:latin typeface="Arial"/>
              </a:rPr>
              <a:t>4 / 5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08000" y="1778000"/>
          <a:ext cx="6985000" cy="4191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01000" y="2032000"/>
            <a:ext cx="3683000" cy="952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000" b="1" lang="ru-RU">
                <a:solidFill>
                  <a:srgbClr val="1F4E79"/>
                </a:solidFill>
                <a:latin typeface="Arial"/>
              </a:rPr>
              <a:t>66%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0" y="3111500"/>
            <a:ext cx="3683000" cy="1905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1B1F24"/>
                </a:solidFill>
                <a:latin typeface="Arial"/>
              </a:rPr>
              <a:t>Зарплаты и подрядчики — основная статья. Инфраструктура и маркетинг вместе — 28%.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406400"/>
            <a:ext cx="11176000" cy="1143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600" b="1" lang="ru-RU">
                <a:solidFill>
                  <a:srgbClr val="1B1F24"/>
                </a:solidFill>
                <a:latin typeface="Arial"/>
              </a:rPr>
              <a:t>Внедрение занимает четыре шага и около 10 недель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8000" y="6350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lang="ru-RU">
                <a:solidFill>
                  <a:srgbClr val="5B6570"/>
                </a:solidFill>
                <a:latin typeface="Arial"/>
              </a:rPr>
              <a:t>Fibonacci.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14000" y="6350000"/>
            <a:ext cx="1270000" cy="25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400" b="0" lang="ru-RU">
                <a:solidFill>
                  <a:srgbClr val="5B6570"/>
                </a:solidFill>
                <a:latin typeface="Arial"/>
              </a:rPr>
              <a:t>5 / 5</a:t>
            </a:r>
          </a:p>
        </p:txBody>
      </p:sp>
      <p:sp>
        <p:nvSpPr>
          <p:cNvPr id="5" name="Pentagon 4"/>
          <p:cNvSpPr/>
          <p:nvPr/>
        </p:nvSpPr>
        <p:spPr>
          <a:xfrm>
            <a:off x="508000" y="2095500"/>
            <a:ext cx="2717800" cy="1016000"/>
          </a:xfrm>
          <a:prstGeom prst="homePlate">
            <a:avLst/>
          </a:prstGeom>
          <a:solidFill>
            <a:srgbClr val="1F4E79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/>
            <a:r>
              <a:rPr sz="2000" b="1" lang="ru-RU">
                <a:solidFill>
                  <a:srgbClr val="FFFFFF"/>
                </a:solidFill>
                <a:latin typeface="Arial"/>
              </a:rPr>
              <a:t>1. Аудит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33655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1F4E79"/>
                </a:solidFill>
                <a:latin typeface="Arial"/>
              </a:rPr>
              <a:t>2 недели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3746500"/>
            <a:ext cx="2413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Собираем требования и данные</a:t>
            </a:r>
          </a:p>
        </p:txBody>
      </p:sp>
      <p:sp>
        <p:nvSpPr>
          <p:cNvPr id="8" name="Chevron 7"/>
          <p:cNvSpPr/>
          <p:nvPr/>
        </p:nvSpPr>
        <p:spPr>
          <a:xfrm>
            <a:off x="3327400" y="2095500"/>
            <a:ext cx="2717800" cy="1016000"/>
          </a:xfrm>
          <a:prstGeom prst="chevron">
            <a:avLst/>
          </a:prstGeom>
          <a:solidFill>
            <a:srgbClr val="E07A1F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/>
            <a:r>
              <a:rPr sz="2000" b="1" lang="ru-RU">
                <a:solidFill>
                  <a:srgbClr val="FFFFFF"/>
                </a:solidFill>
                <a:latin typeface="Arial"/>
              </a:rPr>
              <a:t>2. Пилот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9800" y="33655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1F4E79"/>
                </a:solidFill>
                <a:latin typeface="Arial"/>
              </a:rPr>
              <a:t>3 недели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9800" y="3746500"/>
            <a:ext cx="2413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Запуск на одной команде</a:t>
            </a:r>
          </a:p>
        </p:txBody>
      </p:sp>
      <p:sp>
        <p:nvSpPr>
          <p:cNvPr id="11" name="Chevron 10"/>
          <p:cNvSpPr/>
          <p:nvPr/>
        </p:nvSpPr>
        <p:spPr>
          <a:xfrm>
            <a:off x="6146800" y="2095500"/>
            <a:ext cx="2717800" cy="101600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/>
            <a:r>
              <a:rPr sz="2000" b="1" lang="ru-RU">
                <a:solidFill>
                  <a:srgbClr val="FFFFFF"/>
                </a:solidFill>
                <a:latin typeface="Arial"/>
              </a:rPr>
              <a:t>3. Масштаб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9200" y="33655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1F4E79"/>
                </a:solidFill>
                <a:latin typeface="Arial"/>
              </a:rPr>
              <a:t>4 недели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9200" y="3746500"/>
            <a:ext cx="2413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Подключаем остальные отделы</a:t>
            </a:r>
          </a:p>
        </p:txBody>
      </p:sp>
      <p:sp>
        <p:nvSpPr>
          <p:cNvPr id="14" name="Chevron 13"/>
          <p:cNvSpPr/>
          <p:nvPr/>
        </p:nvSpPr>
        <p:spPr>
          <a:xfrm>
            <a:off x="8966200" y="2095500"/>
            <a:ext cx="2717800" cy="1016000"/>
          </a:xfrm>
          <a:prstGeom prst="chevron">
            <a:avLst/>
          </a:prstGeom>
          <a:solidFill>
            <a:srgbClr val="E07A1F"/>
          </a:solidFill>
          <a:ln>
            <a:noFill/>
          </a:ln>
        </p:spPr>
        <p:txBody>
          <a:bodyPr rtlCol="0" anchor="ctr" wrap="square">
            <a:noAutofit/>
          </a:bodyPr>
          <a:lstStyle/>
          <a:p>
            <a:pPr algn="ctr"/>
            <a:r>
              <a:rPr sz="2000" b="1" lang="ru-RU">
                <a:solidFill>
                  <a:srgbClr val="FFFFFF"/>
                </a:solidFill>
                <a:latin typeface="Arial"/>
              </a:rPr>
              <a:t>4. Поддержка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18600" y="3365500"/>
            <a:ext cx="2413000" cy="317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lang="ru-RU">
                <a:solidFill>
                  <a:srgbClr val="1F4E79"/>
                </a:solidFill>
                <a:latin typeface="Arial"/>
              </a:rPr>
              <a:t>1 неделя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8600" y="3746500"/>
            <a:ext cx="2413000" cy="127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lang="ru-RU">
                <a:solidFill>
                  <a:srgbClr val="5B6570"/>
                </a:solidFill>
                <a:latin typeface="Arial"/>
              </a:rPr>
              <a:t>Обучение и передача дел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Fibonacci AI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Итоги 2025: рост за счёт B2B</dc:title>
  <dc:subject/>
  <dc:creator>Иван Петров</dc:creator>
  <cp:keywords/>
  <dc:description>Создано Fibonacci AI</dc:description>
  <cp:lastModifiedBy>Fibonacci AI</cp:lastModifiedBy>
  <cp:revision>1</cp:revision>
  <dcterms:created xsi:type="dcterms:W3CDTF">2013-01-27T09:14:16Z</dcterms:created>
  <dcterms:modified xsi:type="dcterms:W3CDTF">2013-01-27T09:15:58Z</dcterms:modified>
  <cp:category/>
</cp:coreProperties>
</file>